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592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37376"/>
            <a:ext cx="12192000" cy="420623"/>
          </a:xfrm>
          <a:prstGeom prst="rect">
            <a:avLst/>
          </a:prstGeom>
        </p:spPr>
      </p:pic>
      <p:pic>
        <p:nvPicPr>
          <p:cNvPr id="4" name="Picture 3" descr="mw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609600"/>
            <a:ext cx="1143000" cy="111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1752600"/>
            <a:ext cx="10922000" cy="9525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>
              <a:defRPr sz="2100" b="1">
                <a:solidFill>
                  <a:srgbClr val="0A2540"/>
                </a:solidFill>
                <a:latin typeface="Times New Roman"/>
              </a:defRPr>
            </a:pPr>
            <a:r>
              <a:t>MID-WEST UNIVERSITY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EE1D25"/>
                </a:solidFill>
                <a:latin typeface="Times New Roman"/>
              </a:defRPr>
            </a:pPr>
            <a:r>
              <a:t>GRADUATE SCHOOL OF ENGINEERING</a:t>
            </a:r>
          </a:p>
          <a:p>
            <a:pPr algn="ctr">
              <a:spcBef>
                <a:spcPts val="200"/>
              </a:spcBef>
              <a:defRPr sz="1100">
                <a:solidFill>
                  <a:srgbClr val="646464"/>
                </a:solidFill>
                <a:latin typeface="Times New Roman"/>
              </a:defRPr>
            </a:pPr>
            <a:r>
              <a:t>CENTRAL DEPARTMENT OF COMPUTER ENGINEERING</a:t>
            </a:r>
            <a:br/>
            <a:r>
              <a:t>Birendranagar, Surkhet, Nepal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2857500"/>
            <a:ext cx="10795000" cy="14986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254000" rIns="254000"/>
          <a:lstStyle/>
          <a:p>
            <a:pPr algn="ctr">
              <a:defRPr sz="1200" b="1">
                <a:solidFill>
                  <a:srgbClr val="EE1D25"/>
                </a:solidFill>
                <a:latin typeface="Times New Roman"/>
              </a:defRPr>
            </a:pPr>
            <a:r>
              <a:t>MID-TERM PROJECT DEFENSE PRESENTATION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0A2540"/>
                </a:solidFill>
                <a:latin typeface="Times New Roman"/>
              </a:defRPr>
            </a:pPr>
            <a:r>
              <a:t>AI FITNESS TRACKER: A MULTI-MODAL ATHLETIC PROGRESSION,</a:t>
            </a:r>
            <a:br/>
            <a:r>
              <a:t>REAL-TIME POSE ANALYSIS, GPS RUNNING &amp; WORKOUT INTELLIGENCE PLATFORM</a:t>
            </a:r>
          </a:p>
          <a:p>
            <a:pPr algn="ctr">
              <a:spcBef>
                <a:spcPts val="300"/>
              </a:spcBef>
              <a:defRPr sz="1050" i="1">
                <a:solidFill>
                  <a:srgbClr val="0071BB"/>
                </a:solidFill>
                <a:latin typeface="Times New Roman"/>
              </a:defRPr>
            </a:pPr>
            <a:r>
              <a:t>Bachelor of Computer Engineering (B.E. Computer) • Course Code: CO481 (Minor Project)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500" y="4508500"/>
            <a:ext cx="5397500" cy="1778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>
              <a:defRPr sz="1100" b="1">
                <a:solidFill>
                  <a:srgbClr val="0071BB"/>
                </a:solidFill>
                <a:latin typeface="Times New Roman"/>
              </a:defRPr>
            </a:pPr>
            <a:r>
              <a:t>Submitted by: Computer Engineering Batch 2079</a:t>
            </a:r>
          </a:p>
          <a:p>
            <a:pPr>
              <a:spcBef>
                <a:spcPts val="3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t>• Athit Rijal (Roll / Symbol No: 2604070004)</a:t>
            </a:r>
          </a:p>
          <a:p>
            <a:pPr>
              <a:spcBef>
                <a:spcPts val="3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t>• Dhurbaraj Singh (Roll / Symbol No: 2604070006)</a:t>
            </a:r>
          </a:p>
          <a:p>
            <a:pPr>
              <a:spcBef>
                <a:spcPts val="3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t>• Paras Khadka (Roll / Symbol No: 2604070013)</a:t>
            </a:r>
          </a:p>
          <a:p>
            <a:pPr>
              <a:spcBef>
                <a:spcPts val="3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t>• Sushil Kumar Thapa (Roll / Symbol No: 2604070021)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4508500"/>
            <a:ext cx="5207000" cy="1778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/>
          <a:lstStyle/>
          <a:p>
            <a:pPr algn="ctr">
              <a:defRPr sz="1100" b="1">
                <a:solidFill>
                  <a:srgbClr val="EE1D25"/>
                </a:solidFill>
                <a:latin typeface="Times New Roman"/>
              </a:defRPr>
            </a:pPr>
            <a:r>
              <a:t>Under the Supervision of:</a:t>
            </a:r>
          </a:p>
          <a:p>
            <a:pPr>
              <a:spcBef>
                <a:spcPts val="200"/>
              </a:spcBef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Er. Basant Rawat</a:t>
            </a:r>
          </a:p>
          <a:p>
            <a:pPr>
              <a:spcBef>
                <a:spcPts val="2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t>Assistant Professor</a:t>
            </a:r>
            <a:br/>
            <a:r>
              <a:t>Central Department of Computer Engineering</a:t>
            </a:r>
            <a:br/>
            <a:r>
              <a:t>Graduate School of Engineering, Mid-West University</a:t>
            </a:r>
          </a:p>
          <a:p>
            <a:pPr>
              <a:spcBef>
                <a:spcPts val="400"/>
              </a:spcBef>
              <a:defRPr sz="1050" b="1">
                <a:solidFill>
                  <a:srgbClr val="0071BB"/>
                </a:solidFill>
                <a:latin typeface="Times New Roman"/>
              </a:defRPr>
            </a:pPr>
            <a:r>
              <a:t>Submission Date: October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Presentation Outline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Mid-Term Project Defense Structure (Course Code: CO481)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Part I: Foundations, Methodology &amp; Tech Stack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01. Introduction &amp; Background: </a:t>
            </a:r>
            <a:r>
              <a:rPr b="0"/>
              <a:t>Athletic training context, coaching bottlenecks &amp; research vision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02. Problem Statement &amp; Motivation: </a:t>
            </a:r>
            <a:r>
              <a:rPr b="0"/>
              <a:t>Biomechanical form risks, app fragmentation &amp; connectivity issues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03. Project Objectives: </a:t>
            </a:r>
            <a:r>
              <a:rPr b="0"/>
              <a:t>Primary and technical milestones for edge intelligence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04. Engineering Methodology: </a:t>
            </a:r>
            <a:r>
              <a:rPr b="0"/>
              <a:t>Agile iterative sprint cycles, testing &amp; verification loop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05. Hardware &amp; Software Tech Stack: </a:t>
            </a:r>
            <a:r>
              <a:rPr b="0"/>
              <a:t>React Native, Expo SDK 52, Django 5.1, DRF, PostgreSQL, MediaPipe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Part II: Architecture, UML Models &amp; Progress Audit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06. 3-Tier System Architecture: </a:t>
            </a:r>
            <a:r>
              <a:rPr b="0"/>
              <a:t>Presentation, Local Persistence &amp; Cloud Backend tiers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07. Mathematical &amp; Kinematic Models: </a:t>
            </a:r>
            <a:r>
              <a:rPr b="0"/>
              <a:t>Vector dot product angles, FSM thresholds, Haversine &amp; Brzycki formulas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08. Offline-First Sync &amp; DB Schema: </a:t>
            </a:r>
            <a:r>
              <a:rPr b="0"/>
              <a:t>Local SQLite buffer (sync_queue) &amp; PostgreSQL 17 data models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09. UML Engineering Designs: </a:t>
            </a:r>
            <a:r>
              <a:rPr b="0"/>
              <a:t>Use Case, Class, Sequence &amp; Activity diagrams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10. System Showcase &amp; 70% Progress: </a:t>
            </a:r>
            <a:r>
              <a:rPr b="0"/>
              <a:t>Production screen evaluation, Jest 222 tests &amp; mid-year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Introduction &amp; Project Background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Bridging the gap between sports science and accessible mobile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3429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The Athletic Context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Resistance Training: </a:t>
            </a:r>
            <a:r>
              <a:rPr b="0"/>
              <a:t>Progressive overload, systematic volume tracking, and biomechanical precision are critical for muscular hypertrophy and strength.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Coaching Deficiency: </a:t>
            </a:r>
            <a:r>
              <a:rPr b="0"/>
              <a:t>Over 75% of collegiate trainees exercise without a coach, leading to training plateaus, inefficient mechanics, and acute injuries.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Lack of Accessible Labs: </a:t>
            </a:r>
            <a:r>
              <a:rPr b="0"/>
              <a:t>Biomechanical motion capture labs are cost-prohibitive and inaccessible to emerging university student athletes.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0" y="1397000"/>
            <a:ext cx="3429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Existing Limitations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Passive Mobile Logs: </a:t>
            </a:r>
            <a:r>
              <a:rPr b="0"/>
              <a:t>Commercial apps (Strong, Hevy) function as simple manual digitizers with zero real-time movement analysis.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Fragmented Workflows: </a:t>
            </a:r>
            <a:r>
              <a:rPr b="0"/>
              <a:t>Athletes juggle separate apps for running (Strava), gym logging, and calisthenics without unified telemetry.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Expensive Paywalls: </a:t>
            </a:r>
            <a:r>
              <a:rPr b="0"/>
              <a:t>Private coaching and premium subscription paywalls restrict access to progression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4500" y="1397000"/>
            <a:ext cx="3429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Project Vision &amp; Solution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On-Device Computer Vision: </a:t>
            </a:r>
            <a:r>
              <a:rPr b="0"/>
              <a:t>Local skeletal landmark extraction using MediaPipe BlazePose without cloud latency.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Multi-Modal Modality: </a:t>
            </a:r>
            <a:r>
              <a:rPr b="0"/>
              <a:t>Integrates 1,324 gym movements, outdoor GPS running, and calisthenics skill trees.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100% Offline-First Architecture: </a:t>
            </a:r>
            <a:r>
              <a:rPr b="0"/>
              <a:t>Local SQLite transaction buffering guarantees seamless operation in network-dead gym basements.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Problem Statement &amp; Motivation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Why traditional workout logging and cloud platforms fail athletes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Physical &amp; Biomechanical Risks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Biomechanical Form Degradation: </a:t>
            </a:r>
            <a:r>
              <a:rPr b="0"/>
              <a:t>Unmonitored heavy compound lifts (squats, deadlifts, overhead presses) commonly suffer from lumbar flexion and dynamic knee valgus collapse, causing up to 65% of preventable gym injuries.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Lack of Real-Time Feedback: </a:t>
            </a:r>
            <a:r>
              <a:rPr b="0"/>
              <a:t>Post-workout review or self-recording does not prevent form collapse during the lift. Athletes require instantaneous auditory feedback at the repetition inflection point.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Commercial Barrier: </a:t>
            </a:r>
            <a:r>
              <a:rPr b="0"/>
              <a:t>Personal training fees (NPR 15,000–30,000/month) are prohibitive for university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Architectural &amp; Network Challenges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Fragmented Multi-App Ecosystem: </a:t>
            </a:r>
            <a:r>
              <a:rPr b="0"/>
              <a:t>Athletes are forced to maintain disparate tools for weight training, running, and bodyweight skills, destroying unified athletic fatigue tracking.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Cloud Privacy &amp; Latency Risks: </a:t>
            </a:r>
            <a:r>
              <a:rPr b="0"/>
              <a:t>Streaming webcam/phone video to cloud GPUs creates 300–600ms latency, high server costs, and severe home privacy risks.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Gym Basement Network Blackouts: </a:t>
            </a:r>
            <a:r>
              <a:rPr b="0"/>
              <a:t>Gymnasiums and outdoor running trails frequently lack 4G/5G connectivity. Cloud-dependent apps fail to record workouts reliably.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Project Objectives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Core engineering goals and technical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10795000" cy="10414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071BB"/>
                </a:solidFill>
                <a:latin typeface="Times New Roman"/>
              </a:defRPr>
            </a:pPr>
            <a:r>
              <a:t>Primary Project Objective</a:t>
            </a:r>
          </a:p>
          <a:p>
            <a:pPr algn="l">
              <a:spcBef>
                <a:spcPts val="400"/>
              </a:spcBef>
              <a:defRPr sz="11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Primary Goal: </a:t>
            </a:r>
            <a:r>
              <a:rPr b="0"/>
              <a:t>To design, engineer, and validate an offline-first, multi-modal athletic progression and training intelligence platform that combines real-time edge computer vision pose estimation, GPS running telemetry, calisthenics skill trees, and gym logging into a unified mobile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2565400"/>
            <a:ext cx="5270500" cy="37846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Kinematics, Vision &amp; Telemetry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1. Real-Time Edge Pose Estimation: </a:t>
            </a:r>
            <a:r>
              <a:rPr b="0"/>
              <a:t>Implement MediaPipe BlazePose on mobile devices to track 33 anatomical landmarks in real time with zero cloud transmission.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2. Biomechanical Repetition Counting: </a:t>
            </a:r>
            <a:r>
              <a:rPr b="0"/>
              <a:t>Formulate vector dot-product trigonometric algorithms and a finite-state machine (FSM) to validate rep depth and eccentric/concentric phases.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3. Precision GPS Telemetry Engine: </a:t>
            </a:r>
            <a:r>
              <a:rPr b="0"/>
              <a:t>Build an outdoor location tracker utilizing Haversine distance filtering, rolling pace smoothing, and elevation gain 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000" y="2565400"/>
            <a:ext cx="5270500" cy="37846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Data Architecture &amp; Backend Sync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4. Verified 1,324 Exercise Catalog: </a:t>
            </a:r>
            <a:r>
              <a:rPr b="0"/>
              <a:t>Structure a comprehensive database of 1,324 resistance movements across 9 muscle groups with biomechanical cues.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5. Calisthenics Skill Tree DAG: </a:t>
            </a:r>
            <a:r>
              <a:rPr b="0"/>
              <a:t>Design a Directed Acyclic Graph (DAG) progression model with automated milestone unlocking for bodyweight movements.</a:t>
            </a:r>
          </a:p>
          <a:p>
            <a:pPr algn="l">
              <a:spcBef>
                <a:spcPts val="10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6. Offline-First SQLite Synchronization: </a:t>
            </a:r>
            <a:r>
              <a:rPr b="0"/>
              <a:t>Implement a local write-ahead queue (`sync_queue`) and batch sync to a Django REST Framework and PostgreSQL / Supabase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Engineering &amp; Development Methodology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Agile Iterative Sprint Cycles with Continuous Verification (Figure 4.1 in Report)</a:t>
            </a:r>
          </a:p>
        </p:txBody>
      </p:sp>
      <p:pic>
        <p:nvPicPr>
          <p:cNvPr id="5" name="Picture 4" descr="diagram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371600"/>
            <a:ext cx="10795000" cy="215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8500" y="3683000"/>
            <a:ext cx="5270500" cy="2667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Iterative Planning &amp; Architecture</a:t>
            </a:r>
          </a:p>
          <a:p>
            <a:pPr algn="l">
              <a:spcBef>
                <a:spcPts val="7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Agile Sprint Cycles: </a:t>
            </a:r>
            <a:r>
              <a:rPr b="0"/>
              <a:t>Development is executed in two-week iterative sprints transitioning from requirements to validated production deliverables.</a:t>
            </a:r>
          </a:p>
          <a:p>
            <a:pPr algn="l">
              <a:spcBef>
                <a:spcPts val="7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Requirement &amp; Domain Analysis: </a:t>
            </a:r>
            <a:r>
              <a:rPr b="0"/>
              <a:t>Formulated athletic user stories and biomechanical joint angle boundaries across compound movements.</a:t>
            </a:r>
          </a:p>
          <a:p>
            <a:pPr algn="l">
              <a:spcBef>
                <a:spcPts val="7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Architectural Modeling: </a:t>
            </a:r>
            <a:r>
              <a:rPr b="0"/>
              <a:t>Designed decoupled 3-tier system architecture and normalized relational PostgreSQL &amp; SQLite database schemas.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000" y="3683000"/>
            <a:ext cx="5270500" cy="2667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Sprint Implementation &amp; Verification</a:t>
            </a:r>
          </a:p>
          <a:p>
            <a:pPr algn="l">
              <a:spcBef>
                <a:spcPts val="7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Module Sprint Development: </a:t>
            </a:r>
            <a:r>
              <a:rPr b="0"/>
              <a:t>Independent parallel sprints for React Native Expo client, Django REST API microservices, and MediaPipe CV algorithms.</a:t>
            </a:r>
          </a:p>
          <a:p>
            <a:pPr algn="l">
              <a:spcBef>
                <a:spcPts val="7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Automated Quality Assurance: </a:t>
            </a:r>
            <a:r>
              <a:rPr b="0"/>
              <a:t>Continuous test execution with 30 Jest test suites (222 unit tests) and Pytest REST API validation.</a:t>
            </a:r>
          </a:p>
          <a:p>
            <a:pPr algn="l">
              <a:spcBef>
                <a:spcPts val="7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Milestone Review (70% Audit): </a:t>
            </a:r>
            <a:r>
              <a:rPr b="0"/>
              <a:t>Formal evaluation of functional subsystems against mid-term defense criteria.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Technology Stack &amp; Engineering Tools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Verified technology stack strictly implemented in this project (Table 3.1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Mobile Frontend &amp; Local Persistence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React Native 0.76.9 &amp; Expo SDK 52: </a:t>
            </a:r>
            <a:r>
              <a:rPr b="0"/>
              <a:t>Cross-platform mobile runtime with native UI thread execution on Android (API 24 to 35).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TypeScript 5.3: </a:t>
            </a:r>
            <a:r>
              <a:rPr b="0"/>
              <a:t>End-to-end type safety across 150+ components, eliminating runtime type errors (`0 errors`).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Expo Router v4: </a:t>
            </a:r>
            <a:r>
              <a:rPr b="0"/>
              <a:t>File-based navigation managing tabs (Today, Train, Progress, Profile) and nested stack flows.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Zustand 5.0.3: </a:t>
            </a:r>
            <a:r>
              <a:rPr b="0"/>
              <a:t>Lightweight, decoupled reactive state stores (`auth`, `activeWorkout`, `routine`, `social`) for 60 FPS UI performance.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Expo SQLite 15.1 &amp; FileSystem 18.0: </a:t>
            </a:r>
            <a:r>
              <a:rPr b="0"/>
              <a:t>Local embedded SQLite database managing offline write-ahead transaction queue and catalog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Cloud Backend, Database &amp; Computer Vision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Python 3.11+ &amp; Django 5.1: </a:t>
            </a:r>
            <a:r>
              <a:rPr b="0"/>
              <a:t>High-throughput cloud backend framework supporting modular micro-apps and ORM models.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Django REST Framework 3.15: </a:t>
            </a:r>
            <a:r>
              <a:rPr b="0"/>
              <a:t>Standardized RESTful API endpoints and serializers for users, exercises, and workout sessions.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PostgreSQL 17 / Supabase: </a:t>
            </a:r>
            <a:r>
              <a:rPr b="0"/>
              <a:t>Primary relational database hosting verified 1,324 exercise movement catalog, profiles, and audit logs.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SimpleJWT &amp; drf-spectacular: </a:t>
            </a:r>
            <a:r>
              <a:rPr b="0"/>
              <a:t>Cryptographic JSON Web Token rotation with automated OpenAPI 3.0 / Swagger documentation.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MediaPipe BlazePose &amp; OpenCV: </a:t>
            </a:r>
            <a:r>
              <a:rPr b="0"/>
              <a:t>On-device 33 skeletal landmark extraction, joint trigonometry, and image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System Architecture: 3-Tier Layered Pipeline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Decoupled Presentation Tier, On-Device Persistence Tier, and Cloud Backend (Figure 4.2 in Report)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70000"/>
            <a:ext cx="10795000" cy="4127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8500" y="5511800"/>
            <a:ext cx="10795000" cy="1016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Architectural Pipeline Protocols &amp; Communication Channels</a:t>
            </a:r>
          </a:p>
          <a:p>
            <a:pPr algn="l">
              <a:spcBef>
                <a:spcPts val="2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Tier 1 ↔ Tier 2 (Zero-Latency In-Memory Pipe): </a:t>
            </a:r>
            <a:r>
              <a:rPr b="0"/>
              <a:t>Direct camera frame streaming to MediaPipe BlazePose; sub-12ms write-ahead logging to SQLite sync_queue buffer; zero-jank Zustand state dispatch.</a:t>
            </a:r>
          </a:p>
          <a:p>
            <a:pPr algn="l">
              <a:spcBef>
                <a:spcPts val="2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Tier 2 ↔ Tier 3 (Offline-Resilient Cloud Sync): </a:t>
            </a:r>
            <a:r>
              <a:rPr b="0"/>
              <a:t>Asynchronous batch synchronization over HTTPS/JWT to Django REST API &amp; PostgreSQL / Supabase with Last-Write-Wins conflict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Kinematic Pose Estimation &amp; Joint Angle Mathematics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Trigonometric vector dot-product and biomechanical state machines (Section 4.3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Kinematic Vector Trigonometry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MediaPipe BlazePose 33 Landmarks: </a:t>
            </a:r>
            <a:r>
              <a:rPr b="0"/>
              <a:t>Extracts 3D coordinates (x, y, z) for shoulders, elbows, wrists, hips, knees, and ankles at 30 FPS.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Vector Dot-Product Angle Derivation: </a:t>
            </a:r>
            <a:r>
              <a:rPr b="0"/>
              <a:t>Given 3 adjacent joint keypoints A, B (vertex), and C, joint angle θ is calculated via:
cos(θ) = (BA · BC) / (|BA| |BC|)
θ = arccos(...) × (180° / π)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Exponential Moving Average (EMA): </a:t>
            </a:r>
            <a:r>
              <a:rPr b="0"/>
              <a:t>Smooths high-frequency sensor noise across successive frames to eliminate angle jitter.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Confidence Thresholding (p ≥ 0.50): </a:t>
            </a:r>
            <a:r>
              <a:rPr b="0"/>
              <a:t>Discards occluded joint coordinates to prevent false rep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State Machine &amp; Biomechanical Criteria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Deterministic Finite-State Machine (FSM): </a:t>
            </a:r>
            <a:r>
              <a:rPr b="0"/>
              <a:t>Tracks 4 discrete repetition phases: Ready / Lockout → Eccentric Descent → Inflection Depth → Concentric Ascent.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Biomechanical Depth Thresholds (Table 4.1): </a:t>
            </a:r>
            <a:r>
              <a:rPr b="0"/>
              <a:t>• Barbell Squat: Lockout θ &gt; 165°, Inflection Depth θ ≤ 90° (thigh parallel)
• Push-Up: Lockout θ &gt; 160°, Chest Depth θ ≤ 90°
• Pull-Up: Dead Hang θ &gt; 160°, Chin-Over-Bar θ ≤ 60°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Automated Dynamic Valgus Alerts: </a:t>
            </a:r>
            <a:r>
              <a:rPr b="0"/>
              <a:t>Compares knee distance to ankle distance; triggers real-time audio/visual alert when knees cave inward.</a:t>
            </a:r>
          </a:p>
          <a:p>
            <a:pPr algn="l">
              <a:spcBef>
                <a:spcPts val="10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1RM Brzycki Strength Formula: </a:t>
            </a:r>
            <a:r>
              <a:rPr b="0"/>
              <a:t>1RM = weight × (1 + reps / 30), computed instantly upon set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Geospatial Signal Processing &amp; Run Tracking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Haversine distance calculation, pace smoothing, and background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Geospatial Mathematical Formulations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Background Location Task: </a:t>
            </a:r>
            <a:r>
              <a:rPr b="0"/>
              <a:t>Utilizes `expo-task-manager` and `expo-location` with foreground/background location permissions, tracking runs even when the phone screen is locked.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Haversine Great-Circle Formula: </a:t>
            </a:r>
            <a:r>
              <a:rPr b="0"/>
              <a:t>Computes accurate curved-earth distance between successive GPS coordinates (φ1, λ1) and (φ2, λ2):
a = sin²(Δφ/2) + cos(φ1)cos(φ2)sin²(Δλ/2)
d = 2R · arcsin(√a), where R = 6,371 km.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Stationary GPS Noise Filter: </a:t>
            </a:r>
            <a:r>
              <a:rPr b="0"/>
              <a:t>Applies speed-gating thresholds (speed &lt; 0.5 m/s) to eliminate stationary GPS wander, reducing drift error to &lt;1.2%.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Elevation Gain Profiling: </a:t>
            </a:r>
            <a:r>
              <a:rPr b="0"/>
              <a:t>Integrates barometric altitude deltas to calculate total elevation climb.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Telemetry Rendering &amp; Smoothing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Rolling Temporal Pace Window: </a:t>
            </a:r>
            <a:r>
              <a:rPr b="0"/>
              <a:t>Computes instantaneous pace (min/km) over a 100-meter rolling window, eliminating erratic pace spikes.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Interactive Route Polyline: </a:t>
            </a:r>
            <a:r>
              <a:rPr b="0"/>
              <a:t>Renders live running breadcrumbs color-coded by pace intensity (green for target pace, orange/red for slow intervals).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Automatic Split Splits: </a:t>
            </a:r>
            <a:r>
              <a:rPr b="0"/>
              <a:t>Automatically calculates split splits at every 1-kilometer milestone and triggers haptic vibration.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Local Coordinate Buffering: </a:t>
            </a:r>
            <a:r>
              <a:rPr b="0"/>
              <a:t>Raw coordinate arrays are buffered in local SQLite tables, completely immune to outdoor cellular dropouts.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Offline-First Synchronization &amp; Persistence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Local write-ahead transaction queue and resilient cloud synchronization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Local Persistence &amp; Queue Mechanics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Local Write-Ahead Queue (`sync_queue`): </a:t>
            </a:r>
            <a:r>
              <a:rPr b="0"/>
              <a:t>Every completed set, routine creation, or GPS run writes immediately to an on-device SQLite transaction table:
`CREATE TABLE sync_queue (id, table_name, record_id, action, payload, status, created_at)`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Optimistic UI State Mutation: </a:t>
            </a:r>
            <a:r>
              <a:rPr b="0"/>
              <a:t>Zustand stores update user interfaces instantaneously (&lt;1ms perceived latency) without waiting for network confirmations.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Offline Catalog Fallback: </a:t>
            </a:r>
            <a:r>
              <a:rPr b="0"/>
              <a:t>Bundled client database of 1,324 movements ensures full exercise browsing, routine creation, and logging without cellular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Cloud Synchronization &amp; Conflict Policy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Asynchronous Delta Sync Worker: </a:t>
            </a:r>
            <a:r>
              <a:rPr b="0"/>
              <a:t>Monitors network reachability; upon 4G/WiFi reconnection, dispatches batched HTTPS mutation payloads to Django REST API.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Last-Write-Wins (LWW) Policy: </a:t>
            </a:r>
            <a:r>
              <a:rPr b="0"/>
              <a:t>Resolves multi-device concurrency conflicts using ISO-8601 millisecond timestamps.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Idempotent HTTP Endpoints: </a:t>
            </a:r>
            <a:r>
              <a:rPr b="0"/>
              <a:t>UUID-keyed database records prevent duplicate set insertions during unexpected network retry drops.</a:t>
            </a:r>
          </a:p>
          <a:p>
            <a:pPr algn="l">
              <a:spcBef>
                <a:spcPts val="12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Zero Data Loss Guarantee: </a:t>
            </a:r>
            <a:r>
              <a:rPr b="0"/>
              <a:t>Local database transactions commit with ACID guarantees before any network transmission is initiated.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Relational Database Schema &amp; Data Models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Cloud PostgreSQL &amp; client SQLite schemas strictly implemented (Table 4.2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User, Profile &amp; Exercise Catalog Models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User (`id (UUID), email, password, createdAt`): </a:t>
            </a:r>
            <a:r>
              <a:rPr b="0"/>
              <a:t>Primary athlete authentication and credentials record.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UserProfile (`userId, displayName, units, experience`): </a:t>
            </a:r>
            <a:r>
              <a:rPr b="0"/>
              <a:t>Athlete configuration, metric/imperial preferences, experience tier.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Exercise (`id, name, type, muscleGroup, equipment`): </a:t>
            </a:r>
            <a:r>
              <a:rPr b="0"/>
              <a:t>1,324 verified movements across 9 muscle regions with biomechanical cues.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Routine (`id, userId, name, category, exercises`): </a:t>
            </a:r>
            <a:r>
              <a:rPr b="0"/>
              <a:t>User-defined workout routines, superset structures, and template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Workout Session, Sets &amp; Telemetry Models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WorkoutSession (`id, userId, startTime, endTime, volume`): </a:t>
            </a:r>
            <a:r>
              <a:rPr b="0"/>
              <a:t>Complete session audit record, duration, and calculated tonnage volume.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WorkoutSet (`id, sessionId, exerciseId, weightKg, reps, rpe`): </a:t>
            </a:r>
            <a:r>
              <a:rPr b="0"/>
              <a:t>Set-by-set metrics: weight, reps, RPE fatigue scale, and CV pose verification flag.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PersonalRecord (`id, userId, exerciseId, type, value`): </a:t>
            </a:r>
            <a:r>
              <a:rPr b="0"/>
              <a:t>Milestone 1RM achievements, volume PRs, and historic max progression.</a:t>
            </a:r>
          </a:p>
          <a:p>
            <a:pPr algn="l">
              <a:spcBef>
                <a:spcPts val="14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RunSession (`id, userId, distanceMeters, avgPace, polyline`): </a:t>
            </a:r>
            <a:r>
              <a:rPr b="0"/>
              <a:t>Outdoor GPS run sessions with distance, duration, cadence, and polyline coordinates.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UML Use Case Diagram: User Roles &amp; Functional Boundaries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Actor interactions across on-device training and cloud sync services (Figure 4.3 in Report)</a:t>
            </a:r>
          </a:p>
        </p:txBody>
      </p:sp>
      <p:pic>
        <p:nvPicPr>
          <p:cNvPr id="5" name="Picture 4" descr="diagram_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95400"/>
            <a:ext cx="6858000" cy="3238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8500" y="4597400"/>
            <a:ext cx="10795000" cy="1905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Actor Scopes, Use Case Dependencies &amp; Inclusions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Primary Actor (Student Athlete): </a:t>
            </a:r>
            <a:r>
              <a:rPr b="0"/>
              <a:t>Interacts directly with mobile client for authentication, workout logging, pose tracking, running, and routine customization.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Secondary Actor (Cloud Worker): </a:t>
            </a:r>
            <a:r>
              <a:rPr b="0"/>
              <a:t>Background daemon handling JWT validation and batch synchronization with PostgreSQL.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&lt;&lt;include&gt;&gt; Relationship: </a:t>
            </a:r>
            <a:r>
              <a:rPr b="0"/>
              <a:t>UC4 (Workout Logging) unconditionally includes UC5 (MediaPipe Pose Kinematics) for automated rep validation.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Offline Encapsulation: </a:t>
            </a:r>
            <a:r>
              <a:rPr b="0"/>
              <a:t>UC2, UC3, UC4, UC5, UC6 execute completely offline without cloud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47000" y="1295400"/>
            <a:ext cx="3746500" cy="32385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8 Functional Use Cases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UC1: Auth &amp; Profile </a:t>
            </a:r>
            <a:r>
              <a:rPr b="0"/>
              <a:t>JWT session &amp; units setup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UC2: 1,324 Exercises </a:t>
            </a:r>
            <a:r>
              <a:rPr b="0"/>
              <a:t>Search &amp; filter by muscle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UC3: Routine Builder </a:t>
            </a:r>
            <a:r>
              <a:rPr b="0"/>
              <a:t>Create custom templates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UC4: Workout Logger </a:t>
            </a:r>
            <a:r>
              <a:rPr b="0"/>
              <a:t>Real-time set &amp; RPE record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UC5: MediaPipe Pose </a:t>
            </a:r>
            <a:r>
              <a:rPr b="0"/>
              <a:t>Real-time CV rep counting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UC6: GPS Run Tracker </a:t>
            </a:r>
            <a:r>
              <a:rPr b="0"/>
              <a:t>Haversine path telemetry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UC7: Skill Tree DAG </a:t>
            </a:r>
            <a:r>
              <a:rPr b="0"/>
              <a:t>Calisthenics progression</a:t>
            </a:r>
          </a:p>
          <a:p>
            <a:pPr algn="l">
              <a:spcBef>
                <a:spcPts val="3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UC8: Cloud Delta Sync </a:t>
            </a:r>
            <a:r>
              <a:rPr b="0"/>
              <a:t>Batch push to PostgreSQL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UML Class Diagram: Domain Models &amp; Relationships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Object-oriented software architecture and entity relationships (Figure 4.4 in Report)</a:t>
            </a:r>
          </a:p>
        </p:txBody>
      </p:sp>
      <p:pic>
        <p:nvPicPr>
          <p:cNvPr id="5" name="Picture 4" descr="diagram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95400"/>
            <a:ext cx="6858000" cy="3238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8500" y="4597400"/>
            <a:ext cx="10795000" cy="1905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Structural Multiplicities &amp; Domain Entity Relationships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Composition (`WorkoutSession` ◆─ `WorkoutSet`): </a:t>
            </a:r>
            <a:r>
              <a:rPr b="0"/>
              <a:t>Strict lifecycle dependency; deleting a session cascades and destroys its child workout sets.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Association (`User` ─ `UserProfile`): </a:t>
            </a:r>
            <a:r>
              <a:rPr b="0"/>
              <a:t>One-to-one mapping storing athlete display metrics, training years, and preferred unit system (metric/imperial).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Catalog Reference (`WorkoutSet` ─ `Exercise`): </a:t>
            </a:r>
            <a:r>
              <a:rPr b="0"/>
              <a:t>Many-to-one foreign key mapping into the immutable catalog of 1,324 movements.</a:t>
            </a:r>
          </a:p>
          <a:p>
            <a:pPr algn="l">
              <a:spcBef>
                <a:spcPts val="6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Template Instantiation (`Routine` ─ `Exercise`): </a:t>
            </a:r>
            <a:r>
              <a:rPr b="0"/>
              <a:t>Many-to-many relationship defining exercise order, target reps, and rest intervals.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47000" y="1295400"/>
            <a:ext cx="3746500" cy="32385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Entity Class Inventory</a:t>
            </a:r>
          </a:p>
          <a:p>
            <a:pPr algn="l">
              <a:spcBef>
                <a:spcPts val="4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User: </a:t>
            </a:r>
            <a:r>
              <a:rPr b="0"/>
              <a:t>Authentication entity with UUID, email, and passwordHash.</a:t>
            </a:r>
          </a:p>
          <a:p>
            <a:pPr algn="l">
              <a:spcBef>
                <a:spcPts val="4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UserProfile: </a:t>
            </a:r>
            <a:r>
              <a:rPr b="0"/>
              <a:t>Contains displayName, units, experience tier.</a:t>
            </a:r>
          </a:p>
          <a:p>
            <a:pPr algn="l">
              <a:spcBef>
                <a:spcPts val="4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Exercise: </a:t>
            </a:r>
            <a:r>
              <a:rPr b="0"/>
              <a:t>Catalog item with muscleGroup, equipment, and biomechanical cues.</a:t>
            </a:r>
          </a:p>
          <a:p>
            <a:pPr algn="l">
              <a:spcBef>
                <a:spcPts val="4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Routine: </a:t>
            </a:r>
            <a:r>
              <a:rPr b="0"/>
              <a:t>User workout template grouping exercises.</a:t>
            </a:r>
          </a:p>
          <a:p>
            <a:pPr algn="l">
              <a:spcBef>
                <a:spcPts val="4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WorkoutSession: </a:t>
            </a:r>
            <a:r>
              <a:rPr b="0"/>
              <a:t>Audit record with duration and tonnage.</a:t>
            </a:r>
          </a:p>
          <a:p>
            <a:pPr algn="l">
              <a:spcBef>
                <a:spcPts val="400"/>
              </a:spcBef>
              <a:defRPr sz="9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WorkoutSet: </a:t>
            </a:r>
            <a:r>
              <a:rPr b="0"/>
              <a:t>Records weightKg, reps, and RPE rating.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UML Sequence Diagram: Real-Time Pose Analysis Execution Trace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Sub-33ms frame processing loop and local set persistence (Figure 4.5 in Report)</a:t>
            </a:r>
          </a:p>
        </p:txBody>
      </p:sp>
      <p:pic>
        <p:nvPicPr>
          <p:cNvPr id="5" name="Picture 4" descr="diagram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95400"/>
            <a:ext cx="6858000" cy="3238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47000" y="1295400"/>
            <a:ext cx="3746500" cy="32385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Execution Pipeline Trace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1. Frame Acquisition: </a:t>
            </a:r>
            <a:r>
              <a:rPr b="0"/>
              <a:t>Camera streams 30 FPS raw frame buffer directly to the MediaPipe BlazePose pipeline.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2. Landmark Derivation: </a:t>
            </a:r>
            <a:r>
              <a:rPr b="0"/>
              <a:t>BlazePose extracts 33 3D skeletal landmark coordinates (x, y, z) in sub-15ms.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3. Kinematic Trigonometry: </a:t>
            </a:r>
            <a:r>
              <a:rPr b="0"/>
              <a:t>Kinematics engine computes joint flexion angles via vector dot products (e.g. knee angle θ).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4. State Machine Transition: </a:t>
            </a:r>
            <a:r>
              <a:rPr b="0"/>
              <a:t>FSM detects eccentric descent (θ &lt; 140°), inflection depth (θ ≤ 90°), and concentric lockout (θ ≥ 165°).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5. Biomechanical Audit &amp; Cue: </a:t>
            </a:r>
            <a:r>
              <a:rPr b="0"/>
              <a:t>Detects knee valgus or posture breakdown; triggers instantaneous audio correction cue.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6. Local SQLite Commit: </a:t>
            </a:r>
            <a:r>
              <a:rPr b="0"/>
              <a:t>Upon rep completion, increments count (+1) and commits set transaction to local SQLite `sync_queue`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500" y="4597400"/>
            <a:ext cx="10795000" cy="1905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Real-Time Latency Budgets &amp; Execution Invariants</a:t>
            </a:r>
          </a:p>
          <a:p>
            <a:pPr algn="l">
              <a:spcBef>
                <a:spcPts val="8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Sub-33ms Latency Budget: </a:t>
            </a:r>
            <a:r>
              <a:rPr b="0"/>
              <a:t>Maintains steady 30 FPS processing by avoiding garbage collection allocations during camera frame analysis.</a:t>
            </a:r>
          </a:p>
          <a:p>
            <a:pPr algn="l">
              <a:spcBef>
                <a:spcPts val="8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Local Persistence Latency: </a:t>
            </a:r>
            <a:r>
              <a:rPr b="0"/>
              <a:t>SQLite write-ahead logging executes in &lt;12ms, ensuring zero UI stutter during high-frequency workout logging.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UML Activity Diagram: Repetition Lifecycle State Machine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Deterministic repetition phase detection and dynamic form validation (Figure 4.6 in Report)</a:t>
            </a:r>
          </a:p>
        </p:txBody>
      </p:sp>
      <p:pic>
        <p:nvPicPr>
          <p:cNvPr id="5" name="Picture 4" descr="diagram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95400"/>
            <a:ext cx="6858000" cy="3238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47000" y="1295400"/>
            <a:ext cx="3746500" cy="32385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Repetition State Lifecycle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1: Standing / Ready: </a:t>
            </a:r>
            <a:r>
              <a:rPr b="0"/>
              <a:t>Monitors full joint extension (θ &gt; 160° for push-up/squat); confirms keypoint tracking confidence ≥ 0.50.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2: Eccentric Descent: </a:t>
            </a:r>
            <a:r>
              <a:rPr b="0"/>
              <a:t>Tracks angular velocity as joints flex under load; validates smooth downward trajectory.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Inflection Point Depth: </a:t>
            </a:r>
            <a:r>
              <a:rPr b="0"/>
              <a:t>Validates whether the athlete reaches the required depth threshold (θ ≤ 90°). Partial reps fail to count.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3: Concentric Ascent: </a:t>
            </a:r>
            <a:r>
              <a:rPr b="0"/>
              <a:t>Monitors extension back to lockout while executing real-time biomechanical error checks.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Dynamic Valgus Check: </a:t>
            </a:r>
            <a:r>
              <a:rPr b="0"/>
              <a:t>Verifies knee-to-ankle alignment ratio; alerts athlete if inward knee collapse is detected.</a:t>
            </a:r>
          </a:p>
          <a:p>
            <a:pPr algn="l">
              <a:spcBef>
                <a:spcPts val="400"/>
              </a:spcBef>
              <a:defRPr sz="9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Rep Increment &amp; ACID Commit: </a:t>
            </a:r>
            <a:r>
              <a:rPr b="0"/>
              <a:t>Valid rep increments counter (+1), computes Brzycki 1RM, and commits transaction to SQLite.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500" y="4597400"/>
            <a:ext cx="10795000" cy="1905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Biomechanical Error Safeguards &amp; Auditory Coaching</a:t>
            </a:r>
          </a:p>
          <a:p>
            <a:pPr algn="l">
              <a:spcBef>
                <a:spcPts val="8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Anti-Cheat Validation: </a:t>
            </a:r>
            <a:r>
              <a:rPr b="0"/>
              <a:t>Eliminates false rep counts from bouncing or partial range of motion through strict inflection depth gating.</a:t>
            </a:r>
          </a:p>
          <a:p>
            <a:pPr algn="l">
              <a:spcBef>
                <a:spcPts val="8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Auditory Form Feedback: </a:t>
            </a:r>
            <a:r>
              <a:rPr b="0"/>
              <a:t>Low-latency synthesized speech alerts athletes during the lift without requiring them to glance at the phone screen.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System Showcase: Authentication &amp; Activity Dashboard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Live production application implementation (Figures 5.1, 5.2, 5.3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3937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Authentication &amp; Dashboard Hub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Athlete Login (Fig 5.1): </a:t>
            </a:r>
            <a:r>
              <a:rPr b="0"/>
              <a:t>Clean authentication interface with secure credentials handling, error feedback, and password recovery.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Registration (Fig 5.2): </a:t>
            </a:r>
            <a:r>
              <a:rPr b="0"/>
              <a:t>Onboarding flow capturing athlete name, email, password, and initial training metrics.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Activity Hub (Fig 5.3): </a:t>
            </a:r>
            <a:r>
              <a:rPr b="0"/>
              <a:t>Displays Quick Workout launcher, daily Readiness Score, active streak counter, and recent training history.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Design Tokens: </a:t>
            </a:r>
            <a:r>
              <a:rPr b="0"/>
              <a:t>Unified OLED Dark Design system utilizing high-contrast accents and Plus Jakarta Sans typography.</a:t>
            </a:r>
          </a:p>
        </p:txBody>
      </p:sp>
      <p:pic>
        <p:nvPicPr>
          <p:cNvPr id="6" name="Picture 5" descr="login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0" y="1397000"/>
            <a:ext cx="2095500" cy="4953000"/>
          </a:xfrm>
          <a:prstGeom prst="rect">
            <a:avLst/>
          </a:prstGeom>
        </p:spPr>
      </p:pic>
      <p:pic>
        <p:nvPicPr>
          <p:cNvPr id="7" name="Picture 6" descr="signup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0" y="1397000"/>
            <a:ext cx="2095500" cy="4953000"/>
          </a:xfrm>
          <a:prstGeom prst="rect">
            <a:avLst/>
          </a:prstGeom>
        </p:spPr>
      </p:pic>
      <p:pic>
        <p:nvPicPr>
          <p:cNvPr id="8" name="Picture 7" descr="dashboard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0" y="1397000"/>
            <a:ext cx="20955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System Showcase: Workout Logger &amp; MediaPipe Pose HUD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Real-time resistance logging and on-device computer vision tracking (Figures 5.4, 5.5, 5.6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3937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Workout Logging &amp; Vision HUD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Routine Builder (Fig 5.4): </a:t>
            </a:r>
            <a:r>
              <a:rPr b="0"/>
              <a:t>Template creation interface supporting 1,324 movements, superset grouping, and target set/rep ranges.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Active Logger (Fig 5.5): </a:t>
            </a:r>
            <a:r>
              <a:rPr b="0"/>
              <a:t>One-touch set completion, RPE fatigue scale rating, rest intervals, and automatic Brzycki 1RM computation.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Pose HUD (Fig 5.6): </a:t>
            </a:r>
            <a:r>
              <a:rPr b="0"/>
              <a:t>MediaPipe BlazePose skeletal overlay with real-time joint angle arc rendering and repetition counter.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Zero Stutter: </a:t>
            </a:r>
            <a:r>
              <a:rPr b="0"/>
              <a:t>Decoupled Zustand store updates UI at 60 FPS while background SQLite transactions commit asynchronously.</a:t>
            </a:r>
          </a:p>
        </p:txBody>
      </p:sp>
      <p:pic>
        <p:nvPicPr>
          <p:cNvPr id="6" name="Picture 5" descr="routine_builder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0" y="1397000"/>
            <a:ext cx="2095500" cy="4953000"/>
          </a:xfrm>
          <a:prstGeom prst="rect">
            <a:avLst/>
          </a:prstGeom>
        </p:spPr>
      </p:pic>
      <p:pic>
        <p:nvPicPr>
          <p:cNvPr id="7" name="Picture 6" descr="workout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0" y="1397000"/>
            <a:ext cx="2095500" cy="4953000"/>
          </a:xfrm>
          <a:prstGeom prst="rect">
            <a:avLst/>
          </a:prstGeom>
        </p:spPr>
      </p:pic>
      <p:pic>
        <p:nvPicPr>
          <p:cNvPr id="8" name="Picture 7" descr="vision_tracker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0" y="1397000"/>
            <a:ext cx="20955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System Showcase: Calisthenics DAG, GPS Run &amp; Profile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Gamified bodyweight mastery, outdoor run tracking, and athlete profile (Figures 5.7, 5.8, 5.12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3937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Progression, GPS &amp; Athlete Profile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Skill Tree DAG (Fig 5.7): </a:t>
            </a:r>
            <a:r>
              <a:rPr b="0"/>
              <a:t>Hierarchical Directed Acyclic Graph across 5 disciplines with locked, in-progress, and mastered node states.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GPS Run Tracker (Fig 5.8): </a:t>
            </a:r>
            <a:r>
              <a:rPr b="0"/>
              <a:t>Background GPS task tracking route polyline, Haversine-filtered distance, rolling pace, and cadence.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Athlete Profile (Fig 5.12): </a:t>
            </a:r>
            <a:r>
              <a:rPr b="0"/>
              <a:t>Displays personal records (1RM), cumulative workout volume, Batch 2079 affiliation, and account settings.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Offline Guarantee: </a:t>
            </a:r>
            <a:r>
              <a:rPr b="0"/>
              <a:t>All tree progression and GPS runs are recorded and persisted locally with zero cellular connectivity.</a:t>
            </a:r>
          </a:p>
        </p:txBody>
      </p:sp>
      <p:pic>
        <p:nvPicPr>
          <p:cNvPr id="6" name="Picture 5" descr="skilltree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0" y="1397000"/>
            <a:ext cx="2095500" cy="4953000"/>
          </a:xfrm>
          <a:prstGeom prst="rect">
            <a:avLst/>
          </a:prstGeom>
        </p:spPr>
      </p:pic>
      <p:pic>
        <p:nvPicPr>
          <p:cNvPr id="7" name="Picture 6" descr="gps_run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0" y="1397000"/>
            <a:ext cx="2095500" cy="4953000"/>
          </a:xfrm>
          <a:prstGeom prst="rect">
            <a:avLst/>
          </a:prstGeom>
        </p:spPr>
      </p:pic>
      <p:pic>
        <p:nvPicPr>
          <p:cNvPr id="8" name="Picture 7" descr="settings_profile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500" y="1397000"/>
            <a:ext cx="20955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Current Project Status: 70% Completed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Subsystem implementation deliverables and mid-year evaluation audit (Table 6.1 in Report)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8500" y="1295400"/>
          <a:ext cx="10795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5588000"/>
                <a:gridCol w="1270000"/>
                <a:gridCol w="1270000"/>
              </a:tblGrid>
              <a:tr h="354541">
                <a:tc>
                  <a:txBody>
                    <a:bodyPr wrap="square" tIns="50800" bIns="50800" lIns="76200" rIns="76200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Subsystem Component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 tIns="50800" bIns="50800" lIns="76200" rIns="76200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Implementation Deliverable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 tIns="50800" bIns="50800" lIns="76200" rIns="7620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 tIns="50800" bIns="50800" lIns="76200" rIns="7620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Completion %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Mobile UI &amp; Presentation Core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Expo SDK 52, React Native 0.76.9, TypeScript, Dark Design System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8000"/>
                          </a:solidFill>
                          <a:latin typeface="Times New Roman"/>
                        </a:defRPr>
                      </a:pPr>
                      <a:r>
                        <a:t>Advanced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Exercise Catalog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1,324 movements indexed with target muscle group schemas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8000"/>
                          </a:solidFill>
                          <a:latin typeface="Times New Roman"/>
                        </a:defRPr>
                      </a:pPr>
                      <a:r>
                        <a:t>Advanced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Custom Routine Builder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Template creation, superset grouping, exercise reordering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8000"/>
                          </a:solidFill>
                          <a:latin typeface="Times New Roman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Active Workout Logger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Real-time set logging, RPE scale, 1RM Brzycki calculator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71BB"/>
                          </a:solidFill>
                          <a:latin typeface="Times New Roman"/>
                        </a:defRPr>
                      </a:pPr>
                      <a: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Calisthenics Skill Trees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5 progression disciplines, DAG prerequisites, unlock criteria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71BB"/>
                          </a:solidFill>
                          <a:latin typeface="Times New Roman"/>
                        </a:defRPr>
                      </a:pPr>
                      <a:r>
                        <a:t>Operational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Outdoor GPS Run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Background location task, Haversine distance, pace smoothing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71BB"/>
                          </a:solidFill>
                          <a:latin typeface="Times New Roman"/>
                        </a:defRPr>
                      </a:pPr>
                      <a: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Django REST Framework API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Modular micro-apps, SimpleJWT session rotation, OpenAPI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071BB"/>
                          </a:solidFill>
                          <a:latin typeface="Times New Roman"/>
                        </a:defRPr>
                      </a:pPr>
                      <a:r>
                        <a:t>Operational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Offline SQLite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Local write-ahead transaction buffer (`sync_queue`), sync worker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B46400"/>
                          </a:solidFill>
                          <a:latin typeface="Times New Roman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Computer Vision Kinematics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MediaPipe BlazePose joint trigonometry, state machine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B46400"/>
                          </a:solidFill>
                          <a:latin typeface="Times New Roman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54541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Analytics &amp; Progression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Weekly tonnage volume, 1RM graphs, muscle fatigue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B46400"/>
                          </a:solidFill>
                          <a:latin typeface="Times New Roman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49"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Wearable BLE Sensor Fusion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l">
                        <a:defRPr sz="919">
                          <a:solidFill>
                            <a:srgbClr val="1E1E1E"/>
                          </a:solidFill>
                          <a:latin typeface="Times New Roman"/>
                        </a:defRPr>
                      </a:pPr>
                      <a:r>
                        <a:t>Bluetooth Low Energy heart rate chest-strap integration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646464"/>
                          </a:solidFill>
                          <a:latin typeface="Times New Roman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tIns="38100" bIns="38100" lIns="76200" rIns="76200"/>
                    <a:lstStyle/>
                    <a:p>
                      <a:pPr algn="ctr">
                        <a:defRPr sz="919" b="1">
                          <a:solidFill>
                            <a:srgbClr val="0A2540"/>
                          </a:solidFill>
                          <a:latin typeface="Times New Roman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8500" y="5651500"/>
            <a:ext cx="10795000" cy="660400"/>
          </a:xfrm>
          <a:prstGeom prst="roundRect">
            <a:avLst/>
          </a:prstGeom>
          <a:solidFill>
            <a:srgbClr val="EBF8EB"/>
          </a:solidFill>
          <a:ln w="1524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6400"/>
                </a:solidFill>
                <a:latin typeface="Times New Roman"/>
              </a:defRPr>
            </a:pPr>
            <a:r>
              <a:t>VERIFIED OVERALL PROJECT COMPLETION: 70%</a:t>
            </a:r>
          </a:p>
          <a:p>
            <a:pPr algn="ctr">
              <a:defRPr sz="950">
                <a:solidFill>
                  <a:srgbClr val="1E1E1E"/>
                </a:solidFill>
                <a:latin typeface="Times New Roman"/>
              </a:defRPr>
            </a:pPr>
            <a:r>
              <a:t>Standalone Android Release APK (ai-fitness-tracker-v1.0.0.apk) built and verified for mid-term defense.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Testing, Benchmarks &amp; Quality Assurance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Automated test suites, performance metrics, and validation results (Chapter 6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Automated Testing &amp; Code Quality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30 Jest Automated Test Suites: </a:t>
            </a:r>
            <a:r>
              <a:rPr b="0"/>
              <a:t>222 unit and integration tests passing with 100% success rate across frontend stores and utilities.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Zero TypeScript Errors: </a:t>
            </a:r>
            <a:r>
              <a:rPr b="0"/>
              <a:t>Strict compiler configuration (`tsc --noEmit`) verified across all 150+ source components.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Backend API Unit Tests: </a:t>
            </a:r>
            <a:r>
              <a:rPr b="0"/>
              <a:t>Pytest-django test suites validating JWT session token rotation, serializer validation, and database rollbacks.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Security Audit: </a:t>
            </a:r>
            <a:r>
              <a:rPr b="0"/>
              <a:t>Bcrypt password hashing and JWT authorization preventing unauthorized profile and session modifications.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Empirical Performance Benchmarks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Sub-12ms Local SQLite Latency: </a:t>
            </a:r>
            <a:r>
              <a:rPr b="0"/>
              <a:t>Local transaction buffering completes in under 12 milliseconds, ensuring zero UI latency during set logging.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60 FPS Smooth UI Rendering: </a:t>
            </a:r>
            <a:r>
              <a:rPr b="0"/>
              <a:t>Decoupled Zustand store architecture prevents unnecessary component re-renders during high-frequency active sessions.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Sub-1.2% GPS Stationary Drift: </a:t>
            </a:r>
            <a:r>
              <a:rPr b="0"/>
              <a:t>Speed-gated Haversine filtering effectively suppresses stationary geolocation drift on mobile hardware.</a:t>
            </a:r>
          </a:p>
          <a:p>
            <a:pPr algn="l">
              <a:spcBef>
                <a:spcPts val="12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Production APK Artifact: </a:t>
            </a:r>
            <a:r>
              <a:rPr b="0"/>
              <a:t>Compiled 72.4 MB standalone Android package tested on real Android 14/15 hardware.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Engineering Challenges &amp; Overcome Solutions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Technical hurdles resolved during the mid-year development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3429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1. Offline Data Integrity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Problem: </a:t>
            </a:r>
            <a:r>
              <a:rPr b="0"/>
              <a:t>Gymnasiums frequently suffer from total cellular dead zones, causing cloud API calls to timeout, freeze the UI, and lose logged workout sets.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Solution: </a:t>
            </a:r>
            <a:r>
              <a:rPr b="0"/>
              <a:t>Architected an offline write-ahead transaction buffer in SQLite (`sync_queue`) with optimistic Zustand updates, ensuring 100% data retention without cellular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0" y="1397000"/>
            <a:ext cx="3429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2. Pose Landmark Jitter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Problem: </a:t>
            </a:r>
            <a:r>
              <a:rPr b="0"/>
              <a:t>Low-light gym camera streams generated noisy joint coordinates, causing false repetition triggers and flickering angles.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Solution: </a:t>
            </a:r>
            <a:r>
              <a:rPr b="0"/>
              <a:t>Implemented Exponential Moving Average (EMA) coordinate filtering combined with a landmark confidence threshold (p ≥ 0.50) to smooth joint trajectories.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4500" y="1397000"/>
            <a:ext cx="3429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3. Background GPS Telemetry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Problem: </a:t>
            </a:r>
            <a:r>
              <a:rPr b="0"/>
              <a:t>Background running tracking suffered from operating system process termination and stationary GPS drift when waiting at intersections.</a:t>
            </a:r>
          </a:p>
          <a:p>
            <a:pPr algn="l">
              <a:spcBef>
                <a:spcPts val="1100"/>
              </a:spcBef>
              <a:defRPr sz="10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Solution: </a:t>
            </a:r>
            <a:r>
              <a:rPr b="0"/>
              <a:t>Registered foreground notification tasks via `expo-task-manager` and applied speed-thresholded Haversine distance filtering to eliminate stationary drift.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Remaining Work &amp; Final Semester Roadmap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Planned engineering milestones to reach 100% final project completion (Chapter 7 in Report)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Subsystem Engineering Milestones</a:t>
            </a:r>
          </a:p>
          <a:p>
            <a:pPr algn="l">
              <a:spcBef>
                <a:spcPts val="13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1: Bi-Directional Cloud Sync (Weeks 1–3): </a:t>
            </a:r>
            <a:r>
              <a:rPr b="0"/>
              <a:t>Harden the asynchronous batch sync worker between SQLite and Django REST Framework with robust Last-Write-Wins conflict resolution.</a:t>
            </a:r>
          </a:p>
          <a:p>
            <a:pPr algn="l">
              <a:spcBef>
                <a:spcPts val="13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2: MediaPipe Native C++ Optimization (Weeks 4–7): </a:t>
            </a:r>
            <a:r>
              <a:rPr b="0"/>
              <a:t>Optimize on-device MediaPipe inference pipeline using native Android bindings to achieve sustained 30+ FPS on budget ARM devices.</a:t>
            </a:r>
          </a:p>
          <a:p>
            <a:pPr algn="l">
              <a:spcBef>
                <a:spcPts val="13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3: Wearable BLE Sensor Fusion (Weeks 8–10): </a:t>
            </a:r>
            <a:r>
              <a:rPr b="0"/>
              <a:t>Implement Bluetooth Low Energy connectivity for chest-strap heart rate monitors to calculate cardiovascular training load and aerobic fatigue.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000" y="1397000"/>
            <a:ext cx="52705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EE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Pilot Evaluation &amp; Final Defense</a:t>
            </a:r>
          </a:p>
          <a:p>
            <a:pPr algn="l">
              <a:spcBef>
                <a:spcPts val="13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4: Analytics &amp; Volume Radar (Weeks 11–13): </a:t>
            </a:r>
            <a:r>
              <a:rPr b="0"/>
              <a:t>Complete weekly tonnage radar visualizers, 1RM estimated trend lines, and muscle group recovery fatigue models.</a:t>
            </a:r>
          </a:p>
          <a:p>
            <a:pPr algn="l">
              <a:spcBef>
                <a:spcPts val="13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5: Field Pilot Deployment (Weeks 14–16): </a:t>
            </a:r>
            <a:r>
              <a:rPr b="0"/>
              <a:t>Deploy release APK to 30 Mid-West University student athletes for longitudinal biomechanical accuracy and usability evaluation.</a:t>
            </a:r>
          </a:p>
          <a:p>
            <a:pPr algn="l">
              <a:spcBef>
                <a:spcPts val="1300"/>
              </a:spcBef>
              <a:defRPr sz="105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Phase 6: Final Documentation &amp; Defense (Weeks 17–18): </a:t>
            </a:r>
            <a:r>
              <a:rPr b="0"/>
              <a:t>Prepare final engineering report, comprehensive API documentation, and live defense demonstration.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8536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3408"/>
            <a:ext cx="12192000" cy="164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584200"/>
            <a:ext cx="10795000" cy="66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Times New Roman"/>
              </a:defRPr>
            </a:pPr>
            <a:r>
              <a:t>Conclusion &amp; Project Summary</a:t>
            </a:r>
          </a:p>
          <a:p>
            <a:pPr>
              <a:spcBef>
                <a:spcPts val="200"/>
              </a:spcBef>
              <a:defRPr sz="1250" i="1">
                <a:solidFill>
                  <a:srgbClr val="646464"/>
                </a:solidFill>
                <a:latin typeface="Times New Roman"/>
              </a:defRPr>
            </a:pPr>
            <a:r>
              <a:t>Summary of academic and technical contributions at the mid-year milestone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1397000"/>
            <a:ext cx="10795000" cy="49530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39700" bIns="114300"/>
          <a:lstStyle/>
          <a:p>
            <a:pPr algn="l">
              <a:defRPr sz="1300" b="1">
                <a:solidFill>
                  <a:srgbClr val="0A2540"/>
                </a:solidFill>
                <a:latin typeface="Times New Roman"/>
              </a:defRPr>
            </a:pPr>
            <a:r>
              <a:t>Key Engineering Achievements &amp; Academic Contribution</a:t>
            </a:r>
          </a:p>
          <a:p>
            <a:pPr algn="l">
              <a:spcBef>
                <a:spcPts val="1600"/>
              </a:spcBef>
              <a:defRPr sz="11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Unified Athletic Modality: </a:t>
            </a:r>
            <a:r>
              <a:rPr b="0"/>
              <a:t>Successfully unified gym resistance tracking, outdoor GPS running, and calisthenics skill trees into a single, cohesive application—eliminating fragmented multi-app workflows.</a:t>
            </a:r>
          </a:p>
          <a:p>
            <a:pPr algn="l">
              <a:spcBef>
                <a:spcPts val="1600"/>
              </a:spcBef>
              <a:defRPr sz="11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Offline-First Guarantee: </a:t>
            </a:r>
            <a:r>
              <a:rPr b="0"/>
              <a:t>Implemented a resilient SQLite write-ahead transaction buffer (`sync_queue`), guaranteeing 100% data preservation in network-dead gym basements and remote trails.</a:t>
            </a:r>
          </a:p>
          <a:p>
            <a:pPr algn="l">
              <a:spcBef>
                <a:spcPts val="1600"/>
              </a:spcBef>
              <a:defRPr sz="11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Privacy-Preserving Edge AI: </a:t>
            </a:r>
            <a:r>
              <a:rPr b="0"/>
              <a:t>Demonstrated that on-device skeletal keypoint analysis with MediaPipe BlazePose and vector trigonometry can provide real-time form guidance without cloud GPU costs or video privacy risks.</a:t>
            </a:r>
          </a:p>
          <a:p>
            <a:pPr algn="l">
              <a:spcBef>
                <a:spcPts val="1600"/>
              </a:spcBef>
              <a:defRPr sz="11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Verified 1,324 Movement Catalog: </a:t>
            </a:r>
            <a:r>
              <a:rPr b="0"/>
              <a:t>Structured a comprehensive, verified movement catalog with anatomical muscle tagging, equipment categorization, and execution cues.</a:t>
            </a:r>
          </a:p>
          <a:p>
            <a:pPr algn="l">
              <a:spcBef>
                <a:spcPts val="1600"/>
              </a:spcBef>
              <a:defRPr sz="1100">
                <a:solidFill>
                  <a:srgbClr val="1E1E1E"/>
                </a:solidFill>
                <a:latin typeface="Times New Roman"/>
              </a:defRPr>
            </a:pPr>
            <a:r>
              <a:rPr b="1">
                <a:solidFill>
                  <a:srgbClr val="0A2540"/>
                </a:solidFill>
              </a:rPr>
              <a:t>• Robust Engineering Rigor: </a:t>
            </a:r>
            <a:r>
              <a:rPr b="0"/>
              <a:t>Verified through 30 Jest test suites (222 tests), 0 TypeScript compiler errors, and a functional Android release APK achieving 70% mid-term completion on schedule.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592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37376"/>
            <a:ext cx="12192000" cy="420623"/>
          </a:xfrm>
          <a:prstGeom prst="rect">
            <a:avLst/>
          </a:prstGeom>
        </p:spPr>
      </p:pic>
      <p:pic>
        <p:nvPicPr>
          <p:cNvPr id="4" name="Picture 3" descr="mw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825500"/>
            <a:ext cx="1143000" cy="111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70000" y="2222500"/>
            <a:ext cx="9652000" cy="14605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007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A2540"/>
                </a:solidFill>
                <a:latin typeface="Times New Roman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EE1D25"/>
                </a:solidFill>
                <a:latin typeface="Times New Roman"/>
              </a:defRPr>
            </a:pPr>
            <a: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0000" y="3937000"/>
            <a:ext cx="9652000" cy="22225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2400"/>
          <a:lstStyle/>
          <a:p>
            <a:pPr algn="ctr">
              <a:defRPr sz="1200" b="1">
                <a:solidFill>
                  <a:srgbClr val="0071BB"/>
                </a:solidFill>
                <a:latin typeface="Times New Roman"/>
              </a:defRPr>
            </a:pPr>
            <a:r>
              <a:t>AI FITNESS TRACKER: A MULTI-MODAL ATHLETIC PROGRESSION PLATFORM (CO481)</a:t>
            </a:r>
          </a:p>
          <a:p>
            <a:pPr algn="ctr">
              <a:spcBef>
                <a:spcPts val="400"/>
              </a:spcBef>
              <a:defRPr sz="1050">
                <a:solidFill>
                  <a:srgbClr val="646464"/>
                </a:solidFill>
                <a:latin typeface="Times New Roman"/>
              </a:defRPr>
            </a:pPr>
            <a:r>
              <a:t>Central Department of Computer Engineering • Graduate School of Engineering</a:t>
            </a:r>
            <a:br/>
            <a:r>
              <a:t>Mid-West University, Birendranagar, Surkhet, Nepal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EE1D25"/>
                </a:solidFill>
                <a:latin typeface="Times New Roman"/>
              </a:defRPr>
            </a:pPr>
            <a:r>
              <a:t>Supervisor: Er. Basant Rawat (Assistant Professor)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0A2540"/>
                </a:solidFill>
                <a:latin typeface="Times New Roman"/>
              </a:defRPr>
            </a:pPr>
            <a:r>
              <a:t>Project Team: Athit Rijal • Dhurbaraj Singh • Paras Khadka • Sushil Kumar Thapa (Batch 2079)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